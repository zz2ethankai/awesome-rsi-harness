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e7b467511e4a70" /><Relationship Type="http://schemas.openxmlformats.org/officeDocument/2006/relationships/extended-properties" Target="/docProps/app.xml" Id="R85f6847de29b4c27" /><Relationship Type="http://schemas.openxmlformats.org/officeDocument/2006/relationships/officeDocument" Target="/ppt/presentation.xml" Id="Rf235428058714e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840815a4d646f3"/>
  </p:sldMasterIdLst>
  <p:notesMasterIdLst>
    <p:notesMasterId xmlns:r="http://schemas.openxmlformats.org/officeDocument/2006/relationships" r:id="Rb3e23f83200b4202"/>
  </p:notesMasterIdLst>
  <p:sldIdLst>
    <p:sldId xmlns:r="http://schemas.openxmlformats.org/officeDocument/2006/relationships" id="256" r:id="R462aebe7043d458f"/>
  </p:sldIdLst>
  <p:sldSz cx="13335000" cy="8763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9fe306ca1402f" /><Relationship Type="http://schemas.openxmlformats.org/officeDocument/2006/relationships/slideMaster" Target="/ppt/slideMasters/slideMaster1.xml" Id="Rae840815a4d646f3" /><Relationship Type="http://schemas.openxmlformats.org/officeDocument/2006/relationships/notesMaster" Target="/ppt/notesMasters/notesMaster1.xml" Id="Rb3e23f83200b4202" /><Relationship Type="http://schemas.openxmlformats.org/officeDocument/2006/relationships/presProps" Target="/ppt/presProps.xml" Id="Rcb9feb4181214c43" /><Relationship Type="http://schemas.openxmlformats.org/officeDocument/2006/relationships/tableStyles" Target="/ppt/tableStyles.xml" Id="Rd2e68bdb4edd4f7b" /><Relationship Type="http://schemas.openxmlformats.org/officeDocument/2006/relationships/slide" Target="/ppt/slides/slide1.xml" Id="R462aebe7043d45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62acb0046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9a59c77da94541" /><Relationship Type="http://schemas.openxmlformats.org/officeDocument/2006/relationships/notesMaster" Target="/ppt/notesMasters/notesMaster1.xml" Id="Rd4467d6a71bd4c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更新日期 2026-10-19。与 Awesome data/capability-map.json 共用16篇具身条目的分层。L0/L4目前为空，不代表领域无相关工作。原图未经逐篇审核的背景点暂不赋级。保留原版备份。CaP-X只定位Agent0分支，STEPS已删除。L3是用户定义的编排与执行能力共同更新范围，框内是相关路径，不等于证明改进器本身递归变强。RAX、HexaShell、CarryOn的底层执行栈不因上层程序修复自动算作可改。坐标为定性布局，不是分数或已验证跨域程度。双层技能沉淀促进迁移仍需独立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 CaP-X (Agent0): https://arxiv.org/abs/2603.22435</a:t>
            </a:r>
          </a:p>
          <a:p xmlns:a="http://schemas.openxmlformats.org/drawingml/2006/main">
            <a:r>
              <a:t>地图仅定位CaP-Agent0：工具库可保留，但没有持续自进化闭环证据。CaP-RL为另一分支，不把整个CaP-X称为无学习。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 VLAW: https://arxiv.org/abs/2602.12063</a:t>
            </a:r>
          </a:p>
          <a:p xmlns:a="http://schemas.openxmlformats.org/drawingml/2006/main">
            <a:r>
              <a:t>VLA/world model共同更新，固定阈值筛选；摘要39.2与表2均值差40.8pp待澄清。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 EmbodiRSI: https://arxiv.org/abs/2609.38905</a:t>
            </a:r>
          </a:p>
          <a:p xmlns:a="http://schemas.openxmlformats.org/drawingml/2006/main">
            <a:r>
              <a:t>失败归因调整采样并更新场景策略。实际训练只保留最终成功轨迹；累计400条不是全部采集成本。是失败驱动课程的直接近邻，尚非冻结改进器跨域迁移。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 Criticality WM: https://arxiv.org/abs/2607.28251</a:t>
            </a:r>
          </a:p>
          <a:p xmlns:a="http://schemas.openxmlformats.org/drawingml/2006/main">
            <a:r>
              <a:t>风险预测驱动采样与专家训练，部署保留名义策略并门控；路由收益不能全归训练。需随机采样加同门控、冻结预测器对照，非生成式动力学世界模型。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L1 Nav. Bootstrapping: https://arxiv.org/abs/2610.15782</a:t>
            </a:r>
          </a:p>
          <a:p xmlns:a="http://schemas.openxmlformats.org/drawingml/2006/main">
            <a:r>
              <a:t>共享policy同步生成导航指令并筛选；固定训练循环不自动等于改进器演化。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ASPIRE: https://arxiv.org/abs/2607.00272</a:t>
            </a:r>
          </a:p>
          <a:p xmlns:a="http://schemas.openxmlformats.org/drawingml/2006/main">
            <a:r>
              <a:t>执行轨迹指导修复并沉淀可复用技能。源任务数不等于技能条目数，代码与经验积累不等于优化器自身演化。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Playful: https://arxiv.org/abs/2606.19419</a:t>
            </a:r>
          </a:p>
          <a:p xmlns:a="http://schemas.openxmlformats.org/drawingml/2006/main">
            <a:r>
              <a:t>自主练习后冻结技能库测试，区分练习收益与单次测试重试。改进规则跨域迁移尚未充分隔离。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RPG: https://arxiv.org/abs/2610.02204</a:t>
            </a:r>
          </a:p>
          <a:p xmlns:a="http://schemas.openxmlformats.org/drawingml/2006/main">
            <a:r>
              <a:t>重建与练习更新程序技能，开发保留任务参与门控。真机设置含校准，不能称为零工程迁移。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RAX: https://arxiv.org/abs/2610.22496</a:t>
            </a:r>
          </a:p>
          <a:p xmlns:a="http://schemas.openxmlformats.org/drawingml/2006/main">
            <a:r>
              <a:t>RAX：在线探索后保留并复用感知、规划和执行程序。底座与backend固定；多本体部署不等于改进器跨域迁移。真机部分有人工指导，需区别开发过程与冻结测试。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HexaShell: https://arxiv.org/abs/2610.23479</a:t>
            </a:r>
          </a:p>
          <a:p xmlns:a="http://schemas.openxmlformats.org/drawingml/2006/main">
            <a:r>
              <a:t>失败驱动任务工具修复；harness及共享工具不可改。冻结工具在同seed新布局测试，不等于跨域改进器迁移；开发继承旧depth工具，部分任务有checker说明。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CarryOn: https://arxiv.org/abs/2610.21453</a:t>
            </a:r>
          </a:p>
          <a:p xmlns:a="http://schemas.openxmlformats.org/drawingml/2006/main">
            <a:r>
              <a:t>13%到80%涉及累计反思与重试；仿真安全率不混作真机数据。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L2 EMHO: https://arxiv.org/abs/2610.08432</a:t>
            </a:r>
          </a:p>
          <a:p xmlns:a="http://schemas.openxmlformats.org/drawingml/2006/main">
            <a:r>
              <a:t>冻结模型，从经验轨迹改harness并处理子任务收益冲突；正文预算待核。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L3 RoboRSI：技能实现与接口修复: https://arxiv.org/abs/2610.12424</a:t>
            </a:r>
          </a:p>
          <a:p xmlns:a="http://schemas.openxmlformats.org/drawingml/2006/main">
            <a:r>
              <a:t>TSR以接口契约约束责任分支修复，验证后发布并固化复合技能。104轮真机为有人引导的开发记录，不是冻结策略104次独立测试；LIBERO-Plus另测冻结库迁移。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L3 RoboFoundry：层级技能与规则: https://arxiv.org/abs/2609.32862</a:t>
            </a:r>
          </a:p>
          <a:p xmlns:a="http://schemas.openxmlformats.org/drawingml/2006/main">
            <a:r>
              <a:t>共同更新context与skill系统，将任务修复抽象为通用规则。跨任务promotion使用历史轨迹上的修复提议与模型评分，不等于候选修复经过独立物理复执行。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L3 AdaRSI：编排与子策略更新: https://arxiv.org/abs/2610.20474</a:t>
            </a:r>
          </a:p>
          <a:p xmlns:a="http://schemas.openxmlformats.org/drawingml/2006/main">
            <a:r>
              <a:t>先修编排，再按需更新子策略。纯仿真，训练GPU节省不能代替全成本比较。L3相关路径不等于严格递归改进已证实。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L3 Robo-COP：编排记忆与策略更新: https://arxiv.org/abs/2610.09228</a:t>
            </a:r>
          </a:p>
          <a:p xmlns:a="http://schemas.openxmlformats.org/drawingml/2006/main">
            <a:r>
              <a:t>Robo-COP共同更新策略权重与编排记忆并检查候选。旧技能低曝光不能阻止采纳，门控不构成全技能无回归保证。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610901dd1c47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d434e0cde468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af1383de44d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6c69a52ce34c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9194f971c47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7ba3a966b4b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692E57-3E4C-4D01-BBE5-54ACBFB09D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3310467"/>
            <a:ext cx="10668000" cy="1265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346C35D-B162-4B8D-9E1A-FC316DDBDD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000250" y="4819650"/>
            <a:ext cx="9334500" cy="973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405D33-4B9C-4F75-9360-1A6759199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33500" y="3651250"/>
            <a:ext cx="10668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AAA29D-43C5-4487-9DBE-974A520FA6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681567"/>
            <a:ext cx="11834813" cy="107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D6CFDF-7836-4002-A286-EB79097A29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2434167"/>
            <a:ext cx="11834813" cy="545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0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834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67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501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835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169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502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836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7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0AE566-0D8A-4218-978D-E7DE9B6AE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681567"/>
            <a:ext cx="11834813" cy="107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16A7DB-F63E-41C0-8F72-AB6814434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2434167"/>
            <a:ext cx="5500688" cy="545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0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834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67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501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835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169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502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836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7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F2C8AC-882E-40B9-82A9-BB66EE721E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084219" y="2434167"/>
            <a:ext cx="5500688" cy="545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0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834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67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501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835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169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502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836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7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29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D9DACB-7CE3-4495-AF47-688208BA0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50094" y="681567"/>
            <a:ext cx="11834813" cy="1071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AB3464-47E0-4C90-A010-6310503D33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50094" y="2434167"/>
            <a:ext cx="5500688" cy="5452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50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834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67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501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835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91690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5028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83656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7031" indent="-250031" algn="l">
              <a:lnSpc>
                <a:spcPct val="110000"/>
              </a:lnSpc>
              <a:spcBef>
                <a:spcPts val="0"/>
              </a:spcBef>
              <a:spcAft>
                <a:spcPts val="1313"/>
              </a:spcAft>
              <a:buChar char="•"/>
              <a:defRPr sz="24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bbcd0822ab4a75" /><Relationship Type="http://schemas.openxmlformats.org/officeDocument/2006/relationships/slideLayout" Target="/ppt/slideLayouts/slideLayout1.xml" Id="Rffd388533bef48be" /><Relationship Type="http://schemas.openxmlformats.org/officeDocument/2006/relationships/slideLayout" Target="/ppt/slideLayouts/slideLayout2.xml" Id="Rabb76e8d12f84ded" /><Relationship Type="http://schemas.openxmlformats.org/officeDocument/2006/relationships/slideLayout" Target="/ppt/slideLayouts/slideLayout3.xml" Id="R7079b4329fd3469b" /><Relationship Type="http://schemas.openxmlformats.org/officeDocument/2006/relationships/slideLayout" Target="/ppt/slideLayouts/slideLayout4.xml" Id="R6197f6a133774cb0" /><Relationship Type="http://schemas.openxmlformats.org/officeDocument/2006/relationships/slideLayout" Target="/ppt/slideLayouts/slideLayout5.xml" Id="R27ff98000e624110" /><Relationship Type="http://schemas.openxmlformats.org/officeDocument/2006/relationships/slideLayout" Target="/ppt/slideLayouts/slideLayout6.xml" Id="Rdfcdedc948084b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d388533bef48be"/>
    <p:sldLayoutId xmlns:r="http://schemas.openxmlformats.org/officeDocument/2006/relationships" id="2147483650" r:id="Rabb76e8d12f84ded"/>
    <p:sldLayoutId xmlns:r="http://schemas.openxmlformats.org/officeDocument/2006/relationships" id="2147483651" r:id="R7079b4329fd3469b"/>
    <p:sldLayoutId xmlns:r="http://schemas.openxmlformats.org/officeDocument/2006/relationships" id="2147483652" r:id="R6197f6a133774cb0"/>
    <p:sldLayoutId xmlns:r="http://schemas.openxmlformats.org/officeDocument/2006/relationships" id="2147483653" r:id="R27ff98000e624110"/>
    <p:sldLayoutId xmlns:r="http://schemas.openxmlformats.org/officeDocument/2006/relationships" id="2147483654" r:id="Rdfcdedc948084b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3d8ad096cc43b0" /><Relationship Type="http://schemas.openxmlformats.org/officeDocument/2006/relationships/notesSlide" Target="/ppt/notesSlides/notesSlide1.xml" Id="R6e14b353ef1b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597306-89AE-481D-9057-14F2370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"/>
            <a:ext cx="1200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具身智能系统 RSI：研究成果能力地图（截至 2026-10-19）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35C3F-287E-41BD-B81A-49A832A0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"/>
            <a:ext cx="1200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按“改进能否保留”与“系统修改深度”组织工作。L0–L4 为本报告的工作性分层，点位不代表统一分数。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01A61-B2C7-41F7-8308-4BCBD685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9429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9182A6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54F4C-ABE0-4739-916C-BAB337C3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038225"/>
            <a:ext cx="920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Auto-Engineering 平台层：机器人接入、经验生成、技能开发、部署评估与版本回流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7860F-401C-4837-ABF2-4ABF5355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238250"/>
            <a:ext cx="920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66557E"/>
                </a:solidFill>
                <a:latin typeface="Arial Unicode MS"/>
                <a:ea typeface="Arial Unicode MS"/>
                <a:cs typeface="Arial Unicode MS"/>
              </a:rPr>
              <a:t>PenguinHarness：通用 Agent RSI 实验底座，尚非具身方法点位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BD8E2-E903-4BE1-95AC-E7EA2C5A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942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17ADB-0B52-4BB7-806F-0135B822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B60F8-5DDF-49BE-84AF-C4F867E4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628775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L4 开放式具身 RSI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092DF6-4C4D-46F2-973C-F8FC92D5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335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跨任务 / 跨平台长期自治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FEB89-756F-4A6E-A5C9-2C5DB17F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429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7B256-8CB5-4C5F-8779-926C33B7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A1A1C-F990-48A4-8FD5-7A98F246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676525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L3 Harness 与执行器协同演化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DEB08-0805-4684-ACB8-A86E78A2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8132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可修复底层执行器，也可调整上层编排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26CBA-1157-4A61-89CF-484B04F1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94297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43948-1414-4A5E-BD3A-161906A6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4B5B4-C9CA-411D-8608-F28763DB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43400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L2 上层编排与程序自改进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B5E93-500D-4A90-A42E-ABF05D3B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482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固定底层执行器，更新调用与任务程序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00EFB-1BC8-41E6-A231-CC8D7164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429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3AC7E-33E6-4DA4-988F-8BAAC37A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47448-3209-40ED-898D-DEA4832E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29275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L1 持久能力积累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92612-900F-40DC-97B2-1028B555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934075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技能、模型或记忆保留并供后续复用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FF2E4-ACB0-4D0E-8F58-10F5E7CB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15125"/>
            <a:ext cx="9429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9AF63E-8678-4CAF-B5DF-5676BD6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7151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6384A-3914-4400-823C-DF19E590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819900"/>
            <a:ext cx="4191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L0 当前任务内适应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9086A-0D30-4C5F-B159-D3F07DE6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2470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仅调整当前轨迹、上下文或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D1A83-045F-4B93-852A-33D8D7EB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9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0ED8D-A00F-4C18-AF34-0990885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9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A00924-2B2C-4AF2-A009-22DF83D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9E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8401D-0864-4BF2-ABD1-B3426708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9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D08813-12AE-47A0-BFC2-E934B55A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9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5E482D-DFCB-4F63-8455-12A94A78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A9AE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C06A6C-1D40-4762-84C3-12E3328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24000"/>
            <a:ext cx="0" cy="619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62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9B9B4-262B-4F49-BD0D-E2FB180E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1525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26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5CEE96-B398-45B0-87E9-C171740F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3430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A160C2-3D50-4B6F-AFFF-CBAA1E07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75628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C188C6-4678-4A1F-A1EE-AC5CAAC5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52750"/>
            <a:ext cx="3048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纵轴：系统修改深度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5833B2-9EB4-4E2F-AFA3-A5C8A14D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55257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C0C340-8723-4899-AF2F-CCF2387A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7429500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低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543626-11F2-4DCC-B8AE-F40DA234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724025"/>
            <a:ext cx="1714500" cy="6381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B2738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B3AF68-7498-4D74-9F30-E08FE74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8288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严格具身 RSI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18DECB-43CB-442A-AF52-E66E22E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0502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目前尚无充分证据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5BF97A-317E-421C-B92C-B9F742BA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rPr>
              <a:t>双层技能沉淀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9B7832-448E-4888-B359-54139742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38550"/>
            <a:ext cx="3667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底层：可复用的执行 skills</a:t>
            </a:r>
          </a:p>
          <a:p xmlns:a="http://schemas.openxmlformats.org/drawingml/2006/main">
            <a:pPr>
              <a:buNone/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上层：可迁移的编排 skills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8798AA-B603-4E7B-BC6D-98349F1F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86050"/>
            <a:ext cx="4324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6F6F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A49F52-F44C-4AAA-9E23-CD3DB488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62250"/>
            <a:ext cx="4048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9E3A43"/>
                </a:solidFill>
                <a:latin typeface="Arial Unicode MS"/>
                <a:ea typeface="Arial Unicode MS"/>
                <a:cs typeface="Arial Unicode MS"/>
              </a:rPr>
              <a:t>相关路径：更新对象与证据边界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C04C95-A933-49EF-97ED-43538474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524000"/>
            <a:ext cx="1952625" cy="619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0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6CB2CF9-EC6E-4257-A7D8-525BE898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1666875"/>
            <a:ext cx="1685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读图方式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C22D753-AB35-4256-BDEE-7D7C4B6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085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8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92A558-C1F7-4E1E-8D53-4CDE6057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47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L0：任务内适应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3BC13A-DE0A-4180-B866-D146C9C9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419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7FE9EE-DE3E-44BC-845E-3F4A831A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L1：持久能力积累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2723B8C-4D0B-403A-9297-F965D4B8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5ABBCF5-19AC-4BB0-A9D7-4576FCE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14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L2：上层程序自改进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401835B-1C8A-4151-AC11-C6F6BFA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086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B8FB67-C37E-4BFE-BF6D-4A8CBE62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048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L3：双层协同演化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0BBBC7-7D03-4690-BBC0-63186E62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20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1CF7419-DB58-40CB-AEE1-9C43D295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3813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L4：开放式具身 RSI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B459B38-B97E-4E7C-9722-2089CE5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862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L3 的迁移逻辑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D2D4389-9CF6-4473-BAD6-45BAE644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4238625"/>
            <a:ext cx="16573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执行失败可下沉到执行器修复，成功修复沉淀为底层 skills。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上层编排 skills 复用任务结构与恢复策略。更换环境时重绑或修复执行层。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724FE57-0714-474F-9478-42760EA4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076950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A13D3D"/>
                </a:solidFill>
                <a:latin typeface="Arial Unicode MS"/>
                <a:ea typeface="Arial Unicode MS"/>
                <a:cs typeface="Arial Unicode MS"/>
              </a:rPr>
              <a:t>待验证的收益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43A3D5A-B064-4A5A-9062-93D790D9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429375"/>
            <a:ext cx="1657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增强跨域迁移是研究假设，需独立执行与冻结技能测试。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L3 更新范围不等于已证明改进器递归变强。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158DBE-6705-41CD-9F24-452672D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00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临时状态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0010E50-5E11-4C98-9A4C-B17EA765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7800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记忆 / 上下文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1C604FB-4C16-4039-B96F-208FDFE8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78009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策略 / 技能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EA91D0-F213-4728-AA7D-D65ED0D4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800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Harness / 程序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4A773D-2C38-4F65-8336-CAC8E39C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78009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跨平台资产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CA2AA74-DB86-4727-B0C7-81F0A07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8009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开放式积累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8A69DCB-3DA2-4B34-A81C-9E360184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09625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横轴：改进能否保留并影响后续任务 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CDAFE03-A602-41D2-8EEF-E69490D0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84201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左：当前任务临时调整     中：后续任务复用     右：跨任务 / 跨机器人推广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6D81443-47EF-436D-9204-0BA8D89D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054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78A2CC-430E-4990-869B-2BF0B615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6769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CaP-X (Agent0)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E12EB88-86FF-43C0-A8D9-C451A6A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054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2A99CE8-A7C9-4C48-8088-94734F2B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6769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VLAW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7E33E72-E4C3-4568-A388-31CE0BF0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3150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5E57F24-6EEE-47DF-9DE0-CAC86B4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2865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EmbodiRSI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09AAC62-07A9-498E-9329-D61DC065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3150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E2A521B-1C66-4D99-AE95-162BEFB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8650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Criticality WM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CB148EA-D747-485A-8E0C-69F257A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150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B96E"/>
          </a:solidFill>
          <a:ln xmlns:a="http://schemas.openxmlformats.org/drawingml/2006/main" w="0">
            <a:noFill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F833F49-057E-4C59-92F1-C06C47B9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865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Nav. Bootstrapping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E4DE9A7-3349-43C5-BB0A-49E47DF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29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7E06F28-BB96-4B04-8924-3D71ED1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ASPIRE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96ACDD6-FB73-4ACB-B90E-915B0BCE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7993DF6-7742-4A01-A93F-B609BD9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00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Playful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CA3CABB-58EE-4E3F-9B71-5DB11C4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29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37BE224-C0F2-4029-9C2C-57DEFD6B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400550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RPG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06F2C5F-1DFE-481D-B126-660AF159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0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27E2890-CE75-453B-9C35-6BA25A68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RAX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41DC17B-F033-47D1-90E4-6EAF6F16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F8C5E8B-CB29-46D9-B238-C6FB1186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81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HexaShell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F4FA659-67BB-4033-8F6D-1A9485A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84CFA4D-B1C6-46F6-888D-EA7A288B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625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CarryOn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A01272A-CCA5-41E2-8E26-4B23791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91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A511"/>
          </a:solidFill>
          <a:ln xmlns:a="http://schemas.openxmlformats.org/drawingml/2006/main" w="0">
            <a:noFill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6738C99-4729-4670-855D-62F1A8DB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162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EMHO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4E592A4-D324-49B7-97D4-CB1791C3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575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61"/>
          </a:solidFill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218D93B-047C-47A5-BE28-57642B80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28950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RoboRSI：技能实现与接口修复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3A654FA2-A8CF-4621-8E4D-BD1F4CEB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242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61"/>
          </a:solidFill>
          <a:ln xmlns:a="http://schemas.openxmlformats.org/drawingml/2006/main" w="0">
            <a:noFill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6620485-A568-4100-8325-85840B69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295650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RoboFoundry：层级技能与规则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E78732E-C412-4A65-AC91-4F3B0716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909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61"/>
          </a:solidFill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3FD6C0D-0021-4F72-8EF3-8DB6E41A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62350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AdaRSI：编排与子策略更新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25FCC1-40AD-42EC-AB61-593C7D79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5161"/>
          </a:solidFill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29B1A41-C613-443A-86BD-57CF0F67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29050"/>
            <a:ext cx="3857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62D"/>
                </a:solidFill>
                <a:latin typeface="Arial Unicode MS"/>
                <a:ea typeface="Arial Unicode MS"/>
                <a:cs typeface="Arial Unicode MS"/>
              </a:rPr>
              <a:t>Robo-COP：编排记忆与策略更新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3969433-3576-4467-A0B9-BBC531FA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953125"/>
            <a:ext cx="3524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持久工具库，无持续自进化闭环证据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822191E8-D771-400E-B751-7BE7B4F3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115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本轮索引未收录已核验的 L0 条目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AB58834B-A371-431B-AE01-B0119D75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429500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defPPr>
            <a:lvl1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1pPr>
            <a:lvl2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2pPr>
            <a:lvl3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3pPr>
            <a:lvl4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4pPr>
            <a:lvl5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5pPr>
            <a:lvl6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6pPr>
            <a:lvl7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7pPr>
            <a:lvl8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8pPr>
            <a:lvl9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5D666B"/>
                </a:solidFill>
                <a:latin typeface="Arial Unicode MS"/>
                <a:ea typeface="Arial Unicode MS"/>
                <a:cs typeface="Arial Unicode MS"/>
              </a:rPr>
              <a:t>仅显示已入库工作，原图未核验示例暂不赋级</a:t>
            </a:r>
          </a:p>
        </p:txBody>
      </p:sp>
    </p:spTree>
    <p:extLst>
      <p:ext uri="{BB962C8B-B14F-4D97-AF65-F5344CB8AC3E}">
        <p14:creationId xmlns:p14="http://schemas.microsoft.com/office/powerpoint/2010/main" val="1608212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2026-10-19T14:59:09.7600000Z</dcterms:created>
  <dcterms:modified xsi:type="dcterms:W3CDTF">2026-10-19T14:59:09.7600000Z</dcterms:modified>
</coreProperties>
</file>